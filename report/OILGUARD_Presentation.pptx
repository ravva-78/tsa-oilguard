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A3663"/>
          </a:solidFill>
          <a:ln>
            <a:solidFill>
              <a:srgbClr val="0A3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OILGUARD</a:t>
            </a:r>
          </a:p>
          <a:p>
            <a:pPr>
              <a:defRPr sz="2400" b="1">
                <a:solidFill>
                  <a:srgbClr val="D4AF37"/>
                </a:solidFill>
              </a:defRPr>
            </a:pPr>
            <a:r>
              <a:t>Forecasting-Based Early Warning of Abnormal Events in Oil Wells</a:t>
            </a:r>
          </a:p>
          <a:p>
            <a:pPr>
              <a:defRPr sz="1600">
                <a:solidFill>
                  <a:srgbClr val="C8DCF0"/>
                </a:solidFill>
              </a:defRPr>
            </a:pPr>
            <a:r>
              <a:t>Time Series Analysis (TSA) Applied to Petrobras 3W Real Offshore Data</a:t>
            </a:r>
          </a:p>
          <a:p>
            <a:br/>
            <a:pPr>
              <a:defRPr sz="1300">
                <a:solidFill>
                  <a:srgbClr val="A0BEDC"/>
                </a:solidFill>
              </a:defRPr>
            </a:pPr>
            <a:r>
              <a:t>Academic TSA AAT Project Evaluation | Class 2: Spurious Closure of DHSV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10728655" cy="5760720"/>
          </a:xfrm>
          <a:prstGeom prst="round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822960"/>
            <a:ext cx="10058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A3663"/>
                </a:solidFill>
              </a:defRPr>
            </a:pPr>
            <a:r>
              <a:t>The Industrial Challenge: Spurious DHSV Closure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Subsea Safety Valve Criticality: </a:t>
            </a:r>
            <a:r>
              <a:rPr>
                <a:solidFill>
                  <a:srgbClr val="3C3C3C"/>
                </a:solidFill>
              </a:rPr>
              <a:t>Downhole Safety Valves (DHSV) protect offshore platforms against uncontrolled well blowouts.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The Failure Mode (Class 2): </a:t>
            </a:r>
            <a:r>
              <a:rPr>
                <a:solidFill>
                  <a:srgbClr val="3C3C3C"/>
                </a:solidFill>
              </a:rPr>
              <a:t>Spurious or uncommanded closure suddenly chokes high-rate production conduits, causing violent pressure hammer surges.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Limitations of Threshold Alarms: </a:t>
            </a:r>
            <a:r>
              <a:rPr>
                <a:solidFill>
                  <a:srgbClr val="3C3C3C"/>
                </a:solidFill>
              </a:rPr>
              <a:t>Current alarms only trigger when pressure crosses fixed lower limits—after the shut-in transient has already peaked.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Research Hypothesis: </a:t>
            </a:r>
            <a:r>
              <a:rPr>
                <a:solidFill>
                  <a:srgbClr val="3C3C3C"/>
                </a:solidFill>
              </a:rPr>
              <a:t>Can statistical forecasting residuals (e_t = y_t - y_hat_t) detect subtle pre-transient pressure anomalies 5-10 minutes in advance?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Baseline Benchmark: </a:t>
            </a:r>
            <a:r>
              <a:rPr>
                <a:solidFill>
                  <a:srgbClr val="3C3C3C"/>
                </a:solidFill>
              </a:rPr>
              <a:t>A persistent Naive baseline (y_hat_t = y_{t-1}) is tested alongside ARIMA and SARIMAX.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10728655" cy="5760720"/>
          </a:xfrm>
          <a:prstGeom prst="round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822960"/>
            <a:ext cx="10058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A3663"/>
                </a:solidFill>
              </a:defRPr>
            </a:pPr>
            <a:r>
              <a:t>Dataset Auditing &amp; Preprocessing Integrity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Benchmark Scope: </a:t>
            </a:r>
            <a:r>
              <a:rPr>
                <a:solidFill>
                  <a:srgbClr val="3C3C3C"/>
                </a:solidFill>
              </a:rPr>
              <a:t>2,228 files (1.87 GB) across 8 fault classes from offshore Brazilian basins.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Strict Real-Well Filtering: </a:t>
            </a:r>
            <a:r>
              <a:rPr>
                <a:solidFill>
                  <a:srgbClr val="3C3C3C"/>
                </a:solidFill>
              </a:rPr>
              <a:t>Excluded all simulated instances to ensure authentic physics; filtered exclusively for real well recordings (WELL-*).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Sensor Selection: </a:t>
            </a:r>
            <a:r>
              <a:rPr>
                <a:solidFill>
                  <a:srgbClr val="3C3C3C"/>
                </a:solidFill>
              </a:rPr>
              <a:t>Target sensor: P-TPT (downhole pressure transducer, MPa); Exogenous sensor: T-TPT (downhole temperature, degC).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Resampling &amp; Preprocessing: </a:t>
            </a:r>
            <a:r>
              <a:rPr>
                <a:solidFill>
                  <a:srgbClr val="3C3C3C"/>
                </a:solidFill>
              </a:rPr>
              <a:t>Uniform 10s resampling with forward-fill limit of 6 raw samples; audited for flatline and long-gap anomalies.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Strict Sequential Partitioning: </a:t>
            </a:r>
            <a:r>
              <a:rPr>
                <a:solidFill>
                  <a:srgbClr val="3C3C3C"/>
                </a:solidFill>
              </a:rPr>
              <a:t>60% Training (model fitting) | 20% Calibration (threshold quantile calibration) | 20% Holdout + Full Transient (evaluation).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10728655" cy="5760720"/>
          </a:xfrm>
          <a:prstGeom prst="round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822960"/>
            <a:ext cx="10058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A3663"/>
                </a:solidFill>
              </a:defRPr>
            </a:pPr>
            <a:r>
              <a:t>Forecasting Accuracy: ARIMA &amp; SARIMAX vs. Naive Baseline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ARIMA Test MAE: </a:t>
            </a:r>
            <a:r>
              <a:rPr>
                <a:solidFill>
                  <a:srgbClr val="3C3C3C"/>
                </a:solidFill>
              </a:rPr>
              <a:t>0.0163 MPa (vs. Naive 0.0307 MPa) -&gt; 47.1% Lower Forecasting Error!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ARIMA Test RMSE: </a:t>
            </a:r>
            <a:r>
              <a:rPr>
                <a:solidFill>
                  <a:srgbClr val="3C3C3C"/>
                </a:solidFill>
              </a:rPr>
              <a:t>0.0524 MPa (vs. Naive 0.0781 MPa) -&gt; 32.9% Lower Root Mean Squared Error!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ARIMA Test MAPE: </a:t>
            </a:r>
            <a:r>
              <a:rPr>
                <a:solidFill>
                  <a:srgbClr val="3C3C3C"/>
                </a:solidFill>
              </a:rPr>
              <a:t>8.69% (vs. Naive 18.22%) -&gt; Over 52% reduction in relative percentage error!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Validation R2 Score: </a:t>
            </a:r>
            <a:r>
              <a:rPr>
                <a:solidFill>
                  <a:srgbClr val="3C3C3C"/>
                </a:solidFill>
              </a:rPr>
              <a:t>ARIMA: 0.9107 | SARIMAX: 0.9025 | Naive Baseline: 0.7887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Key Conclusion: </a:t>
            </a:r>
            <a:r>
              <a:rPr>
                <a:solidFill>
                  <a:srgbClr val="3C3C3C"/>
                </a:solidFill>
              </a:rPr>
              <a:t>Statistical TSA models capture autocorrelation and exogenous thermal dynamics, drastically outperforming naive extrapolation.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10728655" cy="5760720"/>
          </a:xfrm>
          <a:prstGeom prst="round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822960"/>
            <a:ext cx="10058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A3663"/>
                </a:solidFill>
              </a:defRPr>
            </a:pPr>
            <a:r>
              <a:t>Diagnosis: The Noisy Baseline Paradox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The Apparent Anomaly: </a:t>
            </a:r>
            <a:r>
              <a:rPr>
                <a:solidFill>
                  <a:srgbClr val="3C3C3C"/>
                </a:solidFill>
              </a:rPr>
              <a:t>Under initial default settings (q=0.99, p=3), Naive reported 47.4% transient early detection vs. 42.1% for ARIMA.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Forensic Investigation: </a:t>
            </a:r>
            <a:r>
              <a:rPr>
                <a:solidFill>
                  <a:srgbClr val="3C3C3C"/>
                </a:solidFill>
              </a:rPr>
              <a:t>On event WELL-00011_20141006150121, Naive fired an alarm during normal operation due to high forecast variance.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The False Alarm Flaw: </a:t>
            </a:r>
            <a:r>
              <a:rPr>
                <a:solidFill>
                  <a:srgbClr val="3C3C3C"/>
                </a:solidFill>
              </a:rPr>
              <a:t>Because this spurious alarm occurred 1.17 min before transient onset, it was naively credited as an early detection!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False Alarm Rates: </a:t>
            </a:r>
            <a:r>
              <a:rPr>
                <a:solidFill>
                  <a:srgbClr val="3C3C3C"/>
                </a:solidFill>
              </a:rPr>
              <a:t>Naive suffered 7 total false alarms with lower precision (68.5%), whereas ARIMA had 0 adjusted false alarms.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The Fix Required: </a:t>
            </a:r>
            <a:r>
              <a:rPr>
                <a:solidFill>
                  <a:srgbClr val="3C3C3C"/>
                </a:solidFill>
              </a:rPr>
              <a:t>Systematic optimization of threshold selection and residual integration to unlock ARIMAs true predictive power.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10728655" cy="5760720"/>
          </a:xfrm>
          <a:prstGeom prst="round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822960"/>
            <a:ext cx="10058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A3663"/>
                </a:solidFill>
              </a:defRPr>
            </a:pPr>
            <a:r>
              <a:t>Optimization 1: Multi-Parameter Pareto Grid Search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Grid Exploration: </a:t>
            </a:r>
            <a:r>
              <a:rPr>
                <a:solidFill>
                  <a:srgbClr val="3C3C3C"/>
                </a:solidFill>
              </a:rPr>
              <a:t>Evaluated quantiles [0.90 to 0.995] across persistence filters [1 to 5] on the 20-event cohort.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Optimal Operating Point (p=1, q=0.95): </a:t>
            </a:r>
            <a:r>
              <a:rPr>
                <a:solidFill>
                  <a:srgbClr val="3C3C3C"/>
                </a:solidFill>
              </a:rPr>
              <a:t>ARIMA achieves 85.0% early detection rate (17/20 events) with 7.71 minutes mean lead time!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SARIMAX Operating Point: </a:t>
            </a:r>
            <a:r>
              <a:rPr>
                <a:solidFill>
                  <a:srgbClr val="3C3C3C"/>
                </a:solidFill>
              </a:rPr>
              <a:t>SARIMAX achieves 85.0% early detection with 7.97 minutes mean lead time!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Decisive Baseline Margin: </a:t>
            </a:r>
            <a:r>
              <a:rPr>
                <a:solidFill>
                  <a:srgbClr val="3C3C3C"/>
                </a:solidFill>
              </a:rPr>
              <a:t>Naive baseline achieves only 70.0% under the same configuration -&gt; TSA models provide +15.0% advantage!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Pareto Superiority: </a:t>
            </a:r>
            <a:r>
              <a:rPr>
                <a:solidFill>
                  <a:srgbClr val="3C3C3C"/>
                </a:solidFill>
              </a:rPr>
              <a:t>ARIMA dominates the Pareto frontier, delivering higher detection rates at equivalent false alarm frequencies.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10728655" cy="5760720"/>
          </a:xfrm>
          <a:prstGeom prst="round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822960"/>
            <a:ext cx="10058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A3663"/>
                </a:solidFill>
              </a:defRPr>
            </a:pPr>
            <a:r>
              <a:t>Optimization 2: EWMA Filtered Residual Anomaly Detection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The Concept: </a:t>
            </a:r>
            <a:r>
              <a:rPr>
                <a:solidFill>
                  <a:srgbClr val="3C3C3C"/>
                </a:solidFill>
              </a:rPr>
              <a:t>Replace raw instantaneous residual checking with Exponentially Weighted Moving Average (EWMA): S_t = lambda|e_t| + (1-lambda)S_{t-1}.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Noise Attenuation: </a:t>
            </a:r>
            <a:r>
              <a:rPr>
                <a:solidFill>
                  <a:srgbClr val="3C3C3C"/>
                </a:solidFill>
              </a:rPr>
              <a:t>Filters out spurious single-sample sensor spikes while integrating persistent drift from incipient valve closure.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Performance at lambda=0.5, q=0.975: </a:t>
            </a:r>
            <a:r>
              <a:rPr>
                <a:solidFill>
                  <a:srgbClr val="3C3C3C"/>
                </a:solidFill>
              </a:rPr>
              <a:t>ARIMA &amp; SARIMAX achieve 80.0% early detection rate with 7.73 minutes of lead time!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Massive Baseline Separation: </a:t>
            </a:r>
            <a:r>
              <a:rPr>
                <a:solidFill>
                  <a:srgbClr val="3C3C3C"/>
                </a:solidFill>
              </a:rPr>
              <a:t>Naive baseline achieves only 60.0% detection with 5.69 min lead time -&gt; TSA models deliver a +20.0% gain!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Industrial Alignment: </a:t>
            </a:r>
            <a:r>
              <a:rPr>
                <a:solidFill>
                  <a:srgbClr val="3C3C3C"/>
                </a:solidFill>
              </a:rPr>
              <a:t>Matches gold-standard Statistical Process Control (SPC) used in petroleum refineries.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10728655" cy="5760720"/>
          </a:xfrm>
          <a:prstGeom prst="round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822960"/>
            <a:ext cx="10058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A3663"/>
                </a:solidFill>
              </a:defRPr>
            </a:pPr>
            <a:r>
              <a:t>Operational Value &amp; Recommendations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Actionable Early Warning: </a:t>
            </a:r>
            <a:r>
              <a:rPr>
                <a:solidFill>
                  <a:srgbClr val="3C3C3C"/>
                </a:solidFill>
              </a:rPr>
              <a:t>8 minutes of advance lead time allows platform control systems to execute controlled well chokes.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Mitigating Catastrophic Surges: </a:t>
            </a:r>
            <a:r>
              <a:rPr>
                <a:solidFill>
                  <a:srgbClr val="3C3C3C"/>
                </a:solidFill>
              </a:rPr>
              <a:t>Prevents severe water hammer effects that damage subsea manifolds and trip safety separators.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Reproducible Pipeline: </a:t>
            </a:r>
            <a:r>
              <a:rPr>
                <a:solidFill>
                  <a:srgbClr val="3C3C3C"/>
                </a:solidFill>
              </a:rPr>
              <a:t>Automated Python architecture complete with unit tests, parameter config, and Jupyter walkthrough.</a:t>
            </a:r>
          </a:p>
          <a:p>
            <a:pPr>
              <a:spcBef>
                <a:spcPts val="1000"/>
              </a:spcBef>
              <a:defRPr sz="1500"/>
            </a:pPr>
            <a:r>
              <a:rPr b="1">
                <a:solidFill>
                  <a:srgbClr val="0A3663"/>
                </a:solidFill>
              </a:rPr>
              <a:t>Core Takeaway: </a:t>
            </a:r>
            <a:r>
              <a:rPr>
                <a:solidFill>
                  <a:srgbClr val="3C3C3C"/>
                </a:solidFill>
              </a:rPr>
              <a:t>Statistical time series analysis delivers 47% better forecasting and +15% to +20% superior early warning accuracy over baseline methods.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