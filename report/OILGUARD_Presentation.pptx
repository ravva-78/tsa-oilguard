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A3663"/>
          </a:solidFill>
          <a:ln>
            <a:solidFill>
              <a:srgbClr val="0A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OILGUARD</a:t>
            </a:r>
          </a:p>
          <a:p>
            <a:pPr>
              <a:defRPr sz="2400" b="1">
                <a:solidFill>
                  <a:srgbClr val="D4AF37"/>
                </a:solidFill>
              </a:defRPr>
            </a:pPr>
            <a:r>
              <a:t>Forecasting-Based Early Warning of Abnormal Events in Oil Wells</a:t>
            </a:r>
          </a:p>
          <a:p>
            <a:pPr>
              <a:defRPr sz="1600">
                <a:solidFill>
                  <a:srgbClr val="C8DCF0"/>
                </a:solidFill>
              </a:defRPr>
            </a:pPr>
            <a:r>
              <a:t>Time Series Analysis on 19 Real Offshore Well Events (Petrobras 3W)</a:t>
            </a:r>
          </a:p>
          <a:p>
            <a:br/>
            <a:pPr>
              <a:defRPr sz="1300">
                <a:solidFill>
                  <a:srgbClr val="A0BEDC"/>
                </a:solidFill>
              </a:defRPr>
            </a:pPr>
            <a:r>
              <a:t>Audited Final Results | Class 2: Spurious Closure of DHSV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0058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3663"/>
                </a:solidFill>
              </a:defRPr>
            </a:pPr>
            <a:r>
              <a:t>The Industrial Challenge: Spurious DHSV Closure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Subsea Safety Valve Criticality: </a:t>
            </a:r>
            <a:r>
              <a:rPr>
                <a:solidFill>
                  <a:srgbClr val="3C3C3C"/>
                </a:solidFill>
              </a:rPr>
              <a:t>Downhole Safety Valves (DHSV) protect offshore platforms against uncontrolled well blowouts.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The Failure Mode (Class 2): </a:t>
            </a:r>
            <a:r>
              <a:rPr>
                <a:solidFill>
                  <a:srgbClr val="3C3C3C"/>
                </a:solidFill>
              </a:rPr>
              <a:t>Spurious closure suddenly chokes high-rate production conduits, causing rapid shut-in dynamics.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Limitations of Threshold Alarms: </a:t>
            </a:r>
            <a:r>
              <a:rPr>
                <a:solidFill>
                  <a:srgbClr val="3C3C3C"/>
                </a:solidFill>
              </a:rPr>
              <a:t>Current alarms only trigger when pressure crosses fixed lower limits—after the shut-in transient has already peaked.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Research Question: </a:t>
            </a:r>
            <a:r>
              <a:rPr>
                <a:solidFill>
                  <a:srgbClr val="3C3C3C"/>
                </a:solidFill>
              </a:rPr>
              <a:t>Can statistical forecasting residuals (e_t = y_t - y_hat_t) provide reliable early warnings 5-10 minutes in advance?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Baseline Comparator: </a:t>
            </a:r>
            <a:r>
              <a:rPr>
                <a:solidFill>
                  <a:srgbClr val="3C3C3C"/>
                </a:solidFill>
              </a:rPr>
              <a:t>A persistent Naive baseline (y_hat_t = y_{t-1}) is benchmarked against ARIMA and SARIMAX.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0058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3663"/>
                </a:solidFill>
              </a:defRPr>
            </a:pPr>
            <a:r>
              <a:t>Dataset Auditing &amp; Preprocessing Integrity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Benchmark Scope: </a:t>
            </a:r>
            <a:r>
              <a:rPr>
                <a:solidFill>
                  <a:srgbClr val="3C3C3C"/>
                </a:solidFill>
              </a:rPr>
              <a:t>2,228 files (1.87 GB) across 8 fault classes from offshore Brazilian basins.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Strict Gold Cohort (N=19): </a:t>
            </a:r>
            <a:r>
              <a:rPr>
                <a:solidFill>
                  <a:srgbClr val="3C3C3C"/>
                </a:solidFill>
              </a:rPr>
              <a:t>Audited 22 real-well Class 2 candidates; 19 gold events accepted. Excluded 3 files (including 1 constant flatline sensor file).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Sensor Selection: </a:t>
            </a:r>
            <a:r>
              <a:rPr>
                <a:solidFill>
                  <a:srgbClr val="3C3C3C"/>
                </a:solidFill>
              </a:rPr>
              <a:t>Target: P-TPT (downhole pressure, MPa); Exogenous: T-TPT (downhole temperature, degC).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Resampling &amp; Preprocessing: </a:t>
            </a:r>
            <a:r>
              <a:rPr>
                <a:solidFill>
                  <a:srgbClr val="3C3C3C"/>
                </a:solidFill>
              </a:rPr>
              <a:t>Uniform 10s resampling with forward-fill limit of 6 raw samples; audited for flatline and long-gap anomalies.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Strict Chronological Partitioning: </a:t>
            </a:r>
            <a:r>
              <a:rPr>
                <a:solidFill>
                  <a:srgbClr val="3C3C3C"/>
                </a:solidFill>
              </a:rPr>
              <a:t>60% Training (model fitting) | 20% Calibration (threshold calibration) | 20% Holdout + Full Transient (evaluation).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0058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3663"/>
                </a:solidFill>
              </a:defRPr>
            </a:pPr>
            <a:r>
              <a:t>Forecasting Accuracy: ARIMA &amp; SARIMAX vs. Naive Baseline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ARIMA Test MAE: </a:t>
            </a:r>
            <a:r>
              <a:rPr>
                <a:solidFill>
                  <a:srgbClr val="3C3C3C"/>
                </a:solidFill>
              </a:rPr>
              <a:t>0.0163 MPa (vs. Naive 0.0307 MPa) -&gt; 47.1% Lower Forecasting Error!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ARIMA Test RMSE: </a:t>
            </a:r>
            <a:r>
              <a:rPr>
                <a:solidFill>
                  <a:srgbClr val="3C3C3C"/>
                </a:solidFill>
              </a:rPr>
              <a:t>0.0524 MPa (vs. Naive 0.0781 MPa) -&gt; 32.9% Lower Root Mean Squared Error!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ARIMA Test MAPE: </a:t>
            </a:r>
            <a:r>
              <a:rPr>
                <a:solidFill>
                  <a:srgbClr val="3C3C3C"/>
                </a:solidFill>
              </a:rPr>
              <a:t>8.69% (vs. Naive 18.22%) -&gt; Over 52% reduction in relative percentage error!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Validation R2 Score: </a:t>
            </a:r>
            <a:r>
              <a:rPr>
                <a:solidFill>
                  <a:srgbClr val="3C3C3C"/>
                </a:solidFill>
              </a:rPr>
              <a:t>ARIMA: 0.9107 | SARIMAX: 0.9025 | Naive Baseline: 0.7887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Key Finding: </a:t>
            </a:r>
            <a:r>
              <a:rPr>
                <a:solidFill>
                  <a:srgbClr val="3C3C3C"/>
                </a:solidFill>
              </a:rPr>
              <a:t>Statistical TSA models capture autocorrelation and exogenous thermal dynamics, drastically outperforming naive extrapolation.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0058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3663"/>
                </a:solidFill>
              </a:defRPr>
            </a:pPr>
            <a:r>
              <a:t>Audit of Early-Warning Evaluation Rules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The Anomaly in Default Rules: </a:t>
            </a:r>
            <a:r>
              <a:rPr>
                <a:solidFill>
                  <a:srgbClr val="3C3C3C"/>
                </a:solidFill>
              </a:rPr>
              <a:t>Under unoptimized static settings (q=0.99, p=3), Naive reported 7/19 early detections vs. 5/19 for ARIMA.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Audited Window Policy: </a:t>
            </a:r>
            <a:r>
              <a:rPr>
                <a:solidFill>
                  <a:srgbClr val="3C3C3C"/>
                </a:solidFill>
              </a:rPr>
              <a:t>Early warnings must strictly occur inside the 10-minute pre-event window [t_transient - 10m, t_transient).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False Alarm Separation: </a:t>
            </a:r>
            <a:r>
              <a:rPr>
                <a:solidFill>
                  <a:srgbClr val="3C3C3C"/>
                </a:solidFill>
              </a:rPr>
              <a:t>Alarms occurring during ordinary normal operation (before the pre-event window) are counted strictly as false alarms.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Lead Time Integrity: </a:t>
            </a:r>
            <a:r>
              <a:rPr>
                <a:solidFill>
                  <a:srgbClr val="3C3C3C"/>
                </a:solidFill>
              </a:rPr>
              <a:t>Lead times are calculated strictly from the pre-event alarm, guaranteeing bounded lead times (0 &lt;= lead &lt;= 10 min).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Denominator Integrity: </a:t>
            </a:r>
            <a:r>
              <a:rPr>
                <a:solidFill>
                  <a:srgbClr val="3C3C3C"/>
                </a:solidFill>
              </a:rPr>
              <a:t>All metrics use exactly the 19 evaluated gold events as the denominator.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0058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3663"/>
                </a:solidFill>
              </a:defRPr>
            </a:pPr>
            <a:r>
              <a:t>Unbiased Generalization: Leave-One-Event-Out Cross-Validation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Preventing Data Leakage: </a:t>
            </a:r>
            <a:r>
              <a:rPr>
                <a:solidFill>
                  <a:srgbClr val="3C3C3C"/>
                </a:solidFill>
              </a:rPr>
              <a:t>Retrospective grid search on holdout sets causes leakage. To guarantee unbiased evaluation, LOEO-CV was executed.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ARIMA LOEO-CV Detection: </a:t>
            </a:r>
            <a:r>
              <a:rPr>
                <a:solidFill>
                  <a:srgbClr val="3C3C3C"/>
                </a:solidFill>
              </a:rPr>
              <a:t>ARIMA achieves 42.1% early detection (8/19 events) with 5.10 minutes advance lead time.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Naive Baseline LOEO-CV: </a:t>
            </a:r>
            <a:r>
              <a:rPr>
                <a:solidFill>
                  <a:srgbClr val="3C3C3C"/>
                </a:solidFill>
              </a:rPr>
              <a:t>Naive baseline achieves 36.8% early detection (7/19 events) with 1.69 minutes lead time.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The Lead Time Advantage: </a:t>
            </a:r>
            <a:r>
              <a:rPr>
                <a:solidFill>
                  <a:srgbClr val="3C3C3C"/>
                </a:solidFill>
              </a:rPr>
              <a:t>ARIMA delivers over 3x the advance warning lead time of the baseline (5.10 min vs. 1.69 min)!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Conclusion: </a:t>
            </a:r>
            <a:r>
              <a:rPr>
                <a:solidFill>
                  <a:srgbClr val="3C3C3C"/>
                </a:solidFill>
              </a:rPr>
              <a:t>In honest cross-validation, statistical TSA models outperform the baseline in both detection rate and reaction window.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0058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3663"/>
                </a:solidFill>
              </a:defRPr>
            </a:pPr>
            <a:r>
              <a:t>Sensitivity Analysis &amp; EWMA Residual Filtering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Grid Sensitivity Ceiling (p=1, q=0.95): </a:t>
            </a:r>
            <a:r>
              <a:rPr>
                <a:solidFill>
                  <a:srgbClr val="3C3C3C"/>
                </a:solidFill>
              </a:rPr>
              <a:t>ARIMA achieves 63.2% early detection (12/19) with 5.35 min lead time (empirical upper bound under post-hoc selection).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EWMA Filtered Residuals (lambda=0.3, q=0.975): </a:t>
            </a:r>
            <a:r>
              <a:rPr>
                <a:solidFill>
                  <a:srgbClr val="3C3C3C"/>
                </a:solidFill>
              </a:rPr>
              <a:t>ARIMA achieves 57.9% early warning (11/19) with 3.53 min lead time at 1.72 FA/hr.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Naive Comparison under EWMA: </a:t>
            </a:r>
            <a:r>
              <a:rPr>
                <a:solidFill>
                  <a:srgbClr val="3C3C3C"/>
                </a:solidFill>
              </a:rPr>
              <a:t>Naive achieves 42.1% (8/19) -&gt; ARIMA provides a +15.8% advantage at identical false alarm rate.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Noise Attenuation: </a:t>
            </a:r>
            <a:r>
              <a:rPr>
                <a:solidFill>
                  <a:srgbClr val="3C3C3C"/>
                </a:solidFill>
              </a:rPr>
              <a:t>EWMA integrates persistent incipient drift while attenuating high-frequency turbulent sensor noise.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Pareto Frontier Verification: </a:t>
            </a:r>
            <a:r>
              <a:rPr>
                <a:solidFill>
                  <a:srgbClr val="3C3C3C"/>
                </a:solidFill>
              </a:rPr>
              <a:t>Non-dominated Pareto points programmatically calculated and verified on the 19 gold events.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0058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3663"/>
                </a:solidFill>
              </a:defRPr>
            </a:pPr>
            <a:r>
              <a:t>Operational Value &amp; Qualified Conclusions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Actionable Lead Time: </a:t>
            </a:r>
            <a:r>
              <a:rPr>
                <a:solidFill>
                  <a:srgbClr val="3C3C3C"/>
                </a:solidFill>
              </a:rPr>
              <a:t>5 minutes of advance lead time provides platform operators a potential window for diagnostic assessment and manual choke throttling.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Qualified Engineering Scope: </a:t>
            </a:r>
            <a:r>
              <a:rPr>
                <a:solidFill>
                  <a:srgbClr val="3C3C3C"/>
                </a:solidFill>
              </a:rPr>
              <a:t>Whether early warnings can reliably prevent water-hammer shocks or valve damage remains an engineering hypothesis requiring multiphase dynamic simulation (OLGA).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Reproducible Architecture: </a:t>
            </a:r>
            <a:r>
              <a:rPr>
                <a:solidFill>
                  <a:srgbClr val="3C3C3C"/>
                </a:solidFill>
              </a:rPr>
              <a:t>End-to-end Python pipeline complete with 10 unit tests, parameter config, and Jupyter walkthrough.</a:t>
            </a:r>
          </a:p>
          <a:p>
            <a:pPr>
              <a:spcBef>
                <a:spcPts val="1000"/>
              </a:spcBef>
              <a:defRPr sz="1500"/>
            </a:pPr>
            <a:r>
              <a:rPr b="1">
                <a:solidFill>
                  <a:srgbClr val="0A3663"/>
                </a:solidFill>
              </a:rPr>
              <a:t>Core Takeaway: </a:t>
            </a:r>
            <a:r>
              <a:rPr>
                <a:solidFill>
                  <a:srgbClr val="3C3C3C"/>
                </a:solidFill>
              </a:rPr>
              <a:t>Statistical time series analysis delivers 47% better forecasting and superior advance warning lead time over persistence baselines.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