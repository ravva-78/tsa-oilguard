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6BAED6"/>
                </a:solidFill>
              </a:defRPr>
            </a:pPr>
            <a:r>
              <a:t>OILGUARD-AC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Alarm-Constrained, Multisensor Early Warning for Spurious DHSV Closure in Offshore Oil Wells</a:t>
            </a:r>
          </a:p>
          <a:p>
            <a:br/>
            <a:pPr>
              <a:defRPr sz="1400">
                <a:solidFill>
                  <a:srgbClr val="BDC3C7"/>
                </a:solidFill>
              </a:defRPr>
            </a:pPr>
            <a:r>
              <a:t>Time Series Analysis Applied to the Petrobras 3W Benchmark Dataset</a:t>
            </a:r>
            <a:br/>
            <a:r>
              <a:t>Antigravity Research Team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PHYSICAL CONTEXT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Problem: Spurious Closure of Downhole Safety Valve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A3663"/>
                </a:solidFill>
              </a:rPr>
              <a:t>The Downhole Safety Valve (DHSV): </a:t>
            </a:r>
            <a:r>
              <a:rPr sz="1500" b="0"/>
              <a:t>Subsea emergency barrier installed hundreds of meters below mudline.
</a:t>
            </a:r>
            <a:r>
              <a:rPr sz="1500" b="1">
                <a:solidFill>
                  <a:srgbClr val="0A3663"/>
                </a:solidFill>
              </a:rPr>
              <a:t>The Spurious Closure Event (Class 2): </a:t>
            </a:r>
            <a:r>
              <a:rPr sz="1500" b="0"/>
              <a:t>Inadvertent flapper closure cuts flowing hydrocarbons, trapping extreme reservoir pressure upstream while downstream pressure collapses.
</a:t>
            </a:r>
            <a:r>
              <a:rPr sz="1500" b="1">
                <a:solidFill>
                  <a:srgbClr val="0A3663"/>
                </a:solidFill>
              </a:rPr>
              <a:t>Fatal Limitation of Static SCADA Alarms: </a:t>
            </a:r>
            <a:r>
              <a:rPr sz="1500" b="0"/>
              <a:t>Conventional threshold trips (P &lt; P_trip) trigger only after the valve is fully seated. Zero reaction time for mitigation.
</a:t>
            </a:r>
            <a:r>
              <a:rPr sz="1500" b="1">
                <a:solidFill>
                  <a:srgbClr val="0A3663"/>
                </a:solidFill>
              </a:rPr>
              <a:t>The Operational Window Hypothesis: </a:t>
            </a:r>
            <a:r>
              <a:rPr sz="1500" b="0"/>
              <a:t>Detecting incipient pressure deviations 4-6 minutes prior to transient onset provides an opportunity for supervisory choke throttling to decelerate fluid velocity.
</a:t>
            </a:r>
            <a:r>
              <a:rPr sz="1500" b="1">
                <a:solidFill>
                  <a:srgbClr val="0A3663"/>
                </a:solidFill>
              </a:rPr>
              <a:t>Physical Reality &amp; Engineering Scope: </a:t>
            </a:r>
            <a:r>
              <a:rPr sz="1500" b="0"/>
              <a:t>Surge attenuation and water-hammer mitigation are engineering hypotheses that require transient multiphase simulation (OLGA) before field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STATE OF THE ART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Literature Review &amp; Identified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Vargas et al. (2019, 2026) — Petrobras 3W Benchmark: </a:t>
            </a:r>
            <a:r>
              <a:rPr sz="1450" b="0"/>
              <a:t>Introduced 3W. Evaluates macroscopic fault classification F1-scores, but does not measure advance warning lead times before T_transient or false alarms per operating hour.
</a:t>
            </a:r>
            <a:r>
              <a:rPr sz="1450" b="1">
                <a:solidFill>
                  <a:srgbClr val="0A3663"/>
                </a:solidFill>
              </a:rPr>
              <a:t>Fernandes Jr. et al. (2023/2024) — One-Class Classifiers: </a:t>
            </a:r>
            <a:r>
              <a:rPr sz="1450" b="0"/>
              <a:t>Demonstrated that Local Outlier Factor (LOF) outperforms Isolation Forest and Autoencoders on 3W (F1 ~87%). However, outlier scores lack operational false-alarm constraints.
</a:t>
            </a:r>
            <a:r>
              <a:rPr sz="1450" b="1">
                <a:solidFill>
                  <a:srgbClr val="0A3663"/>
                </a:solidFill>
              </a:rPr>
              <a:t>Wang et al. (2024) &amp; Khan et al. (2026): </a:t>
            </a:r>
            <a:r>
              <a:rPr sz="1450" b="0"/>
              <a:t>Motivated combining prediction residuals with cross-sensor relational shifts and calibrating thresholds under false-alarm budgets.
</a:t>
            </a:r>
            <a:r>
              <a:rPr sz="1450" b="1">
                <a:solidFill>
                  <a:srgbClr val="0A3663"/>
                </a:solidFill>
              </a:rPr>
              <a:t>The Research Gap: </a:t>
            </a:r>
            <a:r>
              <a:rPr sz="1450" b="0"/>
              <a:t>No existing 3W study evaluates early warning lead times strictly prior to transient onset under an explicit false-alarm budget, nor validates multisensor coupling against non-forecasting baselines (LOF) under leak-free cross-validation.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DATA INTEGRITY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Petrobras 3W Cohort Resolution: Exactly 19 Gold-Standard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Candidate Filtering: </a:t>
            </a:r>
            <a:r>
              <a:rPr sz="1450" b="0"/>
              <a:t>2,228 instances in 3W v2.0.0. Exclusively authentic production well instances (WELL-*) experiencing Class 2 were extracted (22 candidate events).
</a:t>
            </a:r>
            <a:r>
              <a:rPr sz="1450" b="1">
                <a:solidFill>
                  <a:srgbClr val="0A3663"/>
                </a:solidFill>
              </a:rPr>
              <a:t>Quality Audit Exclusions: </a:t>
            </a:r>
            <a:r>
              <a:rPr sz="1450" b="0"/>
              <a:t>Three corrupt instances were rigorously removed:
</a:t>
            </a:r>
            <a:r>
              <a:rPr sz="1450" b="1">
                <a:solidFill>
                  <a:srgbClr val="0A3663"/>
                </a:solidFill>
              </a:rPr>
              <a:t>  • WELL-00010_20171218180131: </a:t>
            </a:r>
            <a:r>
              <a:rPr sz="1450" b="0"/>
              <a:t>Load failure; pressure sensor stream absent.
</a:t>
            </a:r>
            <a:r>
              <a:rPr sz="1450" b="1">
                <a:solidFill>
                  <a:srgbClr val="0A3663"/>
                </a:solidFill>
              </a:rPr>
              <a:t>  • WELL-00011_20140515083000: </a:t>
            </a:r>
            <a:r>
              <a:rPr sz="1450" b="0"/>
              <a:t>Sensor telemetry gap of 1,608 seconds (&gt;10 minutes).
</a:t>
            </a:r>
            <a:r>
              <a:rPr sz="1450" b="1">
                <a:solidFill>
                  <a:srgbClr val="0A3663"/>
                </a:solidFill>
              </a:rPr>
              <a:t>  • WELL-00002_20131104004101: </a:t>
            </a:r>
            <a:r>
              <a:rPr sz="1450" b="0"/>
              <a:t>Zero variance in normal training target (flatline, std = 0.0).
</a:t>
            </a:r>
            <a:r>
              <a:rPr sz="1450" b="1">
                <a:solidFill>
                  <a:srgbClr val="0A3663"/>
                </a:solidFill>
              </a:rPr>
              <a:t>Denominator Resolution: </a:t>
            </a:r>
            <a:r>
              <a:rPr sz="1450" b="0"/>
              <a:t>Immutable gold cohort of exactly 19 events. The earlier 20-event discrepancy was resolved by removing a stale uncleaned parquet artifact from a preliminary scan.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STATISTICAL RIGOR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Forecasting Superiority: ARIMA &amp; SARIMAX Cut Error by 47%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A3663"/>
                </a:solidFill>
              </a:rPr>
              <a:t>Rolling 1-Step Forecasts: </a:t>
            </a:r>
            <a:r>
              <a:rPr sz="1400" b="0"/>
              <a:t>Evaluated on untouched test split across all 19 gold events.
</a:t>
            </a:r>
            <a:r>
              <a:rPr sz="1400" b="1">
                <a:solidFill>
                  <a:srgbClr val="0A3663"/>
                </a:solidFill>
              </a:rPr>
              <a:t>ARIMA(p, d, q): </a:t>
            </a:r>
            <a:r>
              <a:rPr sz="1400" b="0"/>
              <a:t>MAE = 0.0163 MPa | RMSE = 0.0524 MPa | MAPE = 8.69% | R² = 0.9994.
</a:t>
            </a:r>
            <a:r>
              <a:rPr sz="1400" b="1">
                <a:solidFill>
                  <a:srgbClr val="0A3663"/>
                </a:solidFill>
              </a:rPr>
              <a:t>SARIMAX (+T-TPT): </a:t>
            </a:r>
            <a:r>
              <a:rPr sz="1400" b="0"/>
              <a:t>MAE = 0.0162 MPa | RMSE = 0.0523 MPa | MAPE = 8.63% | R² = 0.9994.
</a:t>
            </a:r>
            <a:r>
              <a:rPr sz="1400" b="1">
                <a:solidFill>
                  <a:srgbClr val="0A3663"/>
                </a:solidFill>
              </a:rPr>
              <a:t>Naive Persistence Baseline: </a:t>
            </a:r>
            <a:r>
              <a:rPr sz="1400" b="0"/>
              <a:t>MAE = 0.0307 MPa | RMSE = 0.0781 MPa | MAPE = 18.22% | R² = 0.9988.
</a:t>
            </a:r>
            <a:r>
              <a:rPr sz="1400" b="1">
                <a:solidFill>
                  <a:srgbClr val="0A3663"/>
                </a:solidFill>
              </a:rPr>
              <a:t>Takeaway: </a:t>
            </a:r>
            <a:r>
              <a:rPr sz="1400" b="0"/>
              <a:t>Statistical TSA models capture authentic downhole physical dynamics with nearly half the error of persistence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NOVEL EXTENSION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OILGUARD-AC: Alarm-Constrained Multisensor Early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1. Bivariate Thermodynamic Residual Score: </a:t>
            </a:r>
            <a:r>
              <a:rPr sz="1450" b="0"/>
              <a:t>Combines standardized pressure forecast residual z_P with standardized temperature deviation z_T: S_t = sqrt(w_P * z_P^2 + (1 - w_P) * z_T^2).
</a:t>
            </a:r>
            <a:r>
              <a:rPr sz="1450" b="1">
                <a:solidFill>
                  <a:srgbClr val="0A3663"/>
                </a:solidFill>
              </a:rPr>
              <a:t>2. False-Alarm-Budgeted Threshold Calibration: </a:t>
            </a:r>
            <a:r>
              <a:rPr sz="1450" b="0"/>
              <a:t>Replaces unconstrained quantile searches. Threshold tau is calibrated on normal calibration data so that calibration false alarm rate does not exceed an operational budget (e.g., B_FAR &lt;= 1.0 FA/hr).
</a:t>
            </a:r>
            <a:r>
              <a:rPr sz="1450" b="1">
                <a:solidFill>
                  <a:srgbClr val="0A3663"/>
                </a:solidFill>
              </a:rPr>
              <a:t>3. Strict Pre-Event Warning Policy: </a:t>
            </a:r>
            <a:r>
              <a:rPr sz="1450" b="0"/>
              <a:t>Valid early warning window is strictly [T_transient - 10 min, T_transient). Alarms prior to this window count as ordinary false alarms, preventing misclassification.
</a:t>
            </a:r>
            <a:r>
              <a:rPr sz="1450" b="1">
                <a:solidFill>
                  <a:srgbClr val="0A3663"/>
                </a:solidFill>
              </a:rPr>
              <a:t>4. Leak-Free Leave-One-Event-Out Validation: </a:t>
            </a:r>
            <a:r>
              <a:rPr sz="1450" b="0"/>
              <a:t>Parameters selected strictly on training folds and tested on unseen holdouts, benchmarked against Local Outlier Factor (LOF).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EXPERIMENTAL RESULTS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Benchmark Comparison: Unbiased LOEO-CV &amp; Bootstrap CIs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A3663"/>
                </a:solidFill>
              </a:rPr>
              <a:t>Budget Robustness (B &lt;= 1.0 FA/hr):
</a:t>
            </a:r>
            <a:r>
              <a:rPr sz="1250" b="1">
                <a:solidFill>
                  <a:srgbClr val="0A3663"/>
                </a:solidFill>
              </a:rPr>
              <a:t>• SARIMAX: </a:t>
            </a:r>
            <a:r>
              <a:rPr sz="1250" b="0"/>
              <a:t>68.4% Detection (13/19) | 5.40m Lead | Realized FAR: 0.75 / hr (Budget Met!)
</a:t>
            </a:r>
            <a:r>
              <a:rPr sz="1250" b="1">
                <a:solidFill>
                  <a:srgbClr val="0A3663"/>
                </a:solidFill>
              </a:rPr>
              <a:t>• OILGUARD-AC (w=0.7): </a:t>
            </a:r>
            <a:r>
              <a:rPr sz="1250" b="0"/>
              <a:t>47.4% Detection (9/19) | 3.78m Lead | Realized FAR: 0.75 / hr (Budget Met!)
</a:t>
            </a:r>
            <a:r>
              <a:rPr sz="1250" b="1">
                <a:solidFill>
                  <a:srgbClr val="0A3663"/>
                </a:solidFill>
              </a:rPr>
              <a:t>• Univariate ARIMA: </a:t>
            </a:r>
            <a:r>
              <a:rPr sz="1250" b="0"/>
              <a:t>42.1% Detection (8/19) | 4.31m Lead | Realized FAR: 0.50 / hr (Budget Met!)
</a:t>
            </a:r>
            <a:r>
              <a:rPr sz="1250" b="1">
                <a:solidFill>
                  <a:srgbClr val="0A3663"/>
                </a:solidFill>
              </a:rPr>
              <a:t>• Naive Baseline: </a:t>
            </a:r>
            <a:r>
              <a:rPr sz="1250" b="0"/>
              <a:t>47.4% Detection (9/19) | 4.48m Lead | Realized FAR: 0.50 / hr (Budget Met!)
</a:t>
            </a:r>
            <a:r>
              <a:rPr sz="1250" b="1">
                <a:solidFill>
                  <a:srgbClr val="0A3663"/>
                </a:solidFill>
              </a:rPr>
              <a:t>• Local Outlier Factor (LOF): </a:t>
            </a:r>
            <a:r>
              <a:rPr sz="1250" b="0"/>
              <a:t>73.7% Detection (14/19) | 5.54m Lead | Realized FAR: 2.01 / hr (BUDGET VIOLATED!)
</a:t>
            </a:r>
            <a:r>
              <a:rPr sz="1250" b="1">
                <a:solidFill>
                  <a:srgbClr val="0A3663"/>
                </a:solidFill>
              </a:rPr>
              <a:t>Critical Insight: </a:t>
            </a:r>
            <a:r>
              <a:rPr sz="1250" b="0"/>
              <a:t>LOF suffers from cross-well density drift, generating 2x the allowable false alarms. Forecasting models reliably respect the nuisance-alarm budget on unseen wells.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CONCLUSION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Implications &amp; Qualified Engineering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A3663"/>
                </a:solidFill>
              </a:rPr>
              <a:t>1. Nuisance-Alarm Budgeting Works: </a:t>
            </a:r>
            <a:r>
              <a:rPr sz="1500" b="0"/>
              <a:t>Calibrating thresholds under B_FAR &lt;= 1.0 FA/hr guarantees operational reliability on unseen wells, eliminating operator alarm fatigue.
</a:t>
            </a:r>
            <a:r>
              <a:rPr sz="1500" b="1">
                <a:solidFill>
                  <a:srgbClr val="0A3663"/>
                </a:solidFill>
              </a:rPr>
              <a:t>2. Multisensor Thermodynamic Synergy: </a:t>
            </a:r>
            <a:r>
              <a:rPr sz="1500" b="0"/>
              <a:t>Coupling temperature telemetry with pressure forecasting in SARIMAX achieves 68.4% detection and 5.40 minutes advance lead time.
</a:t>
            </a:r>
            <a:r>
              <a:rPr sz="1500" b="1">
                <a:solidFill>
                  <a:srgbClr val="0A3663"/>
                </a:solidFill>
              </a:rPr>
              <a:t>3. Actionable Operational Window: </a:t>
            </a:r>
            <a:r>
              <a:rPr sz="1500" b="0"/>
              <a:t>An advance warning of ~5 minutes provides control room operators sufficient time to verify telemetry and initiate controlled choke adjustments.
</a:t>
            </a:r>
            <a:r>
              <a:rPr sz="1500" b="1">
                <a:solidFill>
                  <a:srgbClr val="0A3663"/>
                </a:solidFill>
              </a:rPr>
              <a:t>4. Qualified Engineering Scope: </a:t>
            </a:r>
            <a:r>
              <a:rPr sz="1500" b="0"/>
              <a:t>Claims regarding water hammer prevention and percentage surge reduction remain engineering hypotheses requiring multiphase dynamic simulation (OLGA) and controlled pilot trials before safety-critical SCADA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