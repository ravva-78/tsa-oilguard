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6BAED6"/>
                </a:solidFill>
              </a:defRPr>
            </a:pPr>
            <a:r>
              <a:t>OILGUARD Research Journey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Chronological Investigation, Empirical Results, and Reconciled Multi-Protocol Audit</a:t>
            </a:r>
          </a:p>
          <a:p>
            <a:br/>
            <a:pPr>
              <a:defRPr sz="1400">
                <a:solidFill>
                  <a:srgbClr val="BDC3C7"/>
                </a:solidFill>
              </a:defRPr>
            </a:pPr>
            <a:r>
              <a:t>From Initial TSA Baselines to Operational Early Warning in Offshore Oil Wells</a:t>
            </a:r>
            <a:br/>
            <a:r>
              <a:t>Antigravity Research Team |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CHRONOLOGICAL PROGRESSION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The Research Journey: What We Tried &amp; What We Discovered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0A3663"/>
                </a:solidFill>
              </a:rPr>
              <a:t>Phase 1 — Initial TSA Forecasting: </a:t>
            </a:r>
            <a:r>
              <a:rPr sz="1350" b="0"/>
              <a:t>Rolling 1-step ARIMA/SARIMAX cut error by 47% vs. Naive. BUT discovered 'Noisy Baseline Paradox' (Naive appeared to detect 7/19 due to unconstrained noise).
</a:t>
            </a:r>
            <a:r>
              <a:rPr sz="1350" b="1">
                <a:solidFill>
                  <a:srgbClr val="0A3663"/>
                </a:solidFill>
              </a:rPr>
              <a:t>Phase 2 — Retrospective Optimization: </a:t>
            </a:r>
            <a:r>
              <a:rPr sz="1350" b="0"/>
              <a:t>Grid search (q, p) and EWMA smoothing (lambda=0.3) boosted detection to 68.4%. BUT exposed alarm storms (FAR 2.5-3.5/hr) and retrospective test leakage.
</a:t>
            </a:r>
            <a:r>
              <a:rPr sz="1350" b="1">
                <a:solidFill>
                  <a:srgbClr val="0A3663"/>
                </a:solidFill>
              </a:rPr>
              <a:t>Phase 3 — Candidate Extension (OILGUARD-AC): </a:t>
            </a:r>
            <a:r>
              <a:rPr sz="1350" b="0"/>
              <a:t>Multisensor composite scoring (S_t) under an operational FAR budget (&lt;=1.0/hr) with LOF benchmark. BUT uncovered metric discrepancies across drafts (47.4% vs 57.9%).
</a:t>
            </a:r>
            <a:r>
              <a:rPr sz="1350" b="1">
                <a:solidFill>
                  <a:srgbClr val="0A3663"/>
                </a:solidFill>
              </a:rPr>
              <a:t>Phase 4 — Independent Forensic Audit: </a:t>
            </a:r>
            <a:r>
              <a:rPr sz="1350" b="0"/>
              <a:t>Resolved cohort to 19 gold events; diagnosed p=1 vs p=2 sensitivity; discovered calibration collapse on short slices; identified 5 physical wells (63% from Well 11).
</a:t>
            </a:r>
            <a:r>
              <a:rPr sz="1350" b="1">
                <a:solidFill>
                  <a:srgbClr val="0A3663"/>
                </a:solidFill>
              </a:rPr>
              <a:t>Phase 5 — Reconciled Multi-Protocol Evaluation: </a:t>
            </a:r>
            <a:r>
              <a:rPr sz="1350" b="0"/>
              <a:t>Formulated 3 leak-free protocols under matched realized FAR. Proved SARIMAX matches balanced AC (63.2% LOEO, 0.50 FAR), while LOF violates operational budgets (1.51 FAR).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WHAT WE TRIED FIRST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Phase 1: Initial TSA Forecasting &amp; The Noisy Baseline Paradox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A3663"/>
                </a:solidFill>
              </a:rPr>
              <a:t>What We Tried: </a:t>
            </a:r>
            <a:r>
              <a:rPr sz="1300" b="0"/>
              <a:t>Rolling 1-step ARIMA(1,1,1) and SARIMAX(1,1,1) with downhole temperature vs. industrial Naive persistence.
</a:t>
            </a:r>
            <a:r>
              <a:rPr sz="1300" b="1">
                <a:solidFill>
                  <a:srgbClr val="0A3663"/>
                </a:solidFill>
              </a:rPr>
              <a:t>What Results We Got: </a:t>
            </a:r>
            <a:r>
              <a:rPr sz="1300" b="0"/>
              <a:t>Statistical models cut error by 47.1% (ARIMA MAE = 0.0163 MPa, SARIMAX = 0.0162 MPa vs Naive 0.0307 MPa; MAPE 8.6% vs 18.2%).
</a:t>
            </a:r>
            <a:r>
              <a:rPr sz="1300" b="1">
                <a:solidFill>
                  <a:srgbClr val="0A3663"/>
                </a:solidFill>
              </a:rPr>
              <a:t>The 'Noisy Baseline Paradox': </a:t>
            </a:r>
            <a:r>
              <a:rPr sz="1300" b="0"/>
              <a:t>When tested as a raw residual detector, Naive persistence seemed to detect 7/19 events with 4.5m lead time!
</a:t>
            </a:r>
            <a:r>
              <a:rPr sz="1300" b="1">
                <a:solidFill>
                  <a:srgbClr val="0A3663"/>
                </a:solidFill>
              </a:rPr>
              <a:t>The Root Cause: </a:t>
            </a:r>
            <a:r>
              <a:rPr sz="1300" b="0"/>
              <a:t>Naive residuals suffered massive high-frequency noise variance. Unconstrained noise spikes happened by chance to fall in the 10-minute pre-event window, but produced continuous false alarms during steady operation.
</a:t>
            </a:r>
            <a:r>
              <a:rPr sz="1300" b="1">
                <a:solidFill>
                  <a:srgbClr val="0A3663"/>
                </a:solidFill>
              </a:rPr>
              <a:t>Key Takeaway: </a:t>
            </a:r>
            <a:r>
              <a:rPr sz="1300" b="0"/>
              <a:t>Alarms cannot be evaluated without measuring steady-state false alarm rates.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WHAT WE TRIED NEXT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Phase 2: Retrospective Optimization &amp; Alarm Storms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A3663"/>
                </a:solidFill>
              </a:rPr>
              <a:t>What We Tried: </a:t>
            </a:r>
            <a:r>
              <a:rPr sz="1400" b="0"/>
              <a:t>Grid search over quantile thresholds (q in [0.90, 0.99]), persistence windows (p in [1, 3]), 120s cooldown, and EWMA residual smoothing (alpha=0.3).
</a:t>
            </a:r>
            <a:r>
              <a:rPr sz="1400" b="1">
                <a:solidFill>
                  <a:srgbClr val="0A3663"/>
                </a:solidFill>
              </a:rPr>
              <a:t>What Results We Got: </a:t>
            </a:r>
            <a:r>
              <a:rPr sz="1400" b="0"/>
              <a:t>Detection jumped to 68.4% (13/19 events) with &gt;5 minutes mean lead time. EWMA filtered single-point sensor spikes cleanly.
</a:t>
            </a:r>
            <a:r>
              <a:rPr sz="1400" b="1">
                <a:solidFill>
                  <a:srgbClr val="0A3663"/>
                </a:solidFill>
              </a:rPr>
              <a:t>The Fatal Flaw Discovered — Alarm Storms: </a:t>
            </a:r>
            <a:r>
              <a:rPr sz="1400" b="0"/>
              <a:t>Evaluating normal operational data revealed that p=1 generated 2.5 to 3.5 false alarms per hour. In an offshore control room, 3 nuisance alarms/hr causes immediate operator alarm fatigue and system disabling.
</a:t>
            </a:r>
            <a:r>
              <a:rPr sz="1400" b="1">
                <a:solidFill>
                  <a:srgbClr val="0A3663"/>
                </a:solidFill>
              </a:rPr>
              <a:t>The Second Flaw — Retrospective Leakage: </a:t>
            </a:r>
            <a:r>
              <a:rPr sz="1400" b="0"/>
              <a:t>Thresholds were tuned across the entire event duration, tuning parameters on the very data being tested.
</a:t>
            </a:r>
            <a:r>
              <a:rPr sz="1400" b="1">
                <a:solidFill>
                  <a:srgbClr val="0A3663"/>
                </a:solidFill>
              </a:rPr>
              <a:t>Key Takeaway: </a:t>
            </a:r>
            <a:r>
              <a:rPr sz="1400" b="0"/>
              <a:t>Retrospective optimization creates an illusion of high detection while hiding catastrophic operational false alarms.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RESOLVING INCONSISTENCIES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Phases 3 &amp; 4: Forensic Audit &amp; Discrepancy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A3663"/>
                </a:solidFill>
              </a:rPr>
              <a:t>Candidate Extension (Phase 3): </a:t>
            </a:r>
            <a:r>
              <a:rPr sz="1300" b="0"/>
              <a:t>Formulated OILGUARD-AC composite score S_t = sqrt(w*z_P^2 + (1-w)*z_T^2) under FAR budget (&lt;=1.0/hr), alongside Local Outlier Factor (LOF).
</a:t>
            </a:r>
            <a:r>
              <a:rPr sz="1300" b="1">
                <a:solidFill>
                  <a:srgbClr val="0A3663"/>
                </a:solidFill>
              </a:rPr>
              <a:t>The Forensic Audit (Phase 4) Resolved Every Discrepancy:
</a:t>
            </a:r>
            <a:r>
              <a:rPr sz="1300" b="1">
                <a:solidFill>
                  <a:srgbClr val="0A3663"/>
                </a:solidFill>
              </a:rPr>
              <a:t>• Cohort Denominator: </a:t>
            </a:r>
            <a:r>
              <a:rPr sz="1300" b="0"/>
              <a:t>Excluded 3 corrupt files (missing sensor, 1,608s gap, zero variance) and removed an orphaned parquet file -&gt; strictly 19 gold events.
</a:t>
            </a:r>
            <a:r>
              <a:rPr sz="1300" b="1">
                <a:solidFill>
                  <a:srgbClr val="0A3663"/>
                </a:solidFill>
              </a:rPr>
              <a:t>• 47.4% vs 57.9% Detection: </a:t>
            </a:r>
            <a:r>
              <a:rPr sz="1300" b="0"/>
              <a:t>Traced to persistence p: p=1 gave 57.9% (high FAR); p=2 gave 47.4% (0.75 FAR by suppressing transient micro-spikes).
</a:t>
            </a:r>
            <a:r>
              <a:rPr sz="1300" b="1">
                <a:solidFill>
                  <a:srgbClr val="0A3663"/>
                </a:solidFill>
              </a:rPr>
              <a:t>• FAR 0.75 vs 1.26 / hr: </a:t>
            </a:r>
            <a:r>
              <a:rPr sz="1300" b="0"/>
              <a:t>Standardized early warning window strictly to [T_transient - 10 min, T_transient); earlier alarms count as ordinary false alarms.
</a:t>
            </a:r>
            <a:r>
              <a:rPr sz="1300" b="1">
                <a:solidFill>
                  <a:srgbClr val="0A3663"/>
                </a:solidFill>
              </a:rPr>
              <a:t>• Short Calibration Collapse: </a:t>
            </a:r>
            <a:r>
              <a:rPr sz="1300" b="0"/>
              <a:t>Individual event calibration slices (H &lt; 0.5 h) forced K_allowed = 0; resolved by cross-event pooled calibration (H ~ 3.7 h).
</a:t>
            </a:r>
            <a:r>
              <a:rPr sz="1300" b="1">
                <a:solidFill>
                  <a:srgbClr val="0A3663"/>
                </a:solidFill>
              </a:rPr>
              <a:t>• Asset Clustering: </a:t>
            </a:r>
            <a:r>
              <a:rPr sz="1300" b="0"/>
              <a:t>19 events originate from 5 physical wells (WELL-00011 = 12 events / 63.2%). Required Leave-One-Well-Out validation.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FINAL AUDITED RESULTS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Phase 5: Reconciled Benchmark under Matched Realized FAR</a:t>
            </a:r>
          </a:p>
        </p:txBody>
      </p:sp>
      <p:pic>
        <p:nvPicPr>
          <p:cNvPr id="3" name="Picture 2" descr="protoco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A3663"/>
                </a:solidFill>
              </a:rPr>
              <a:t>Matched Realized FAR Comparison (N=19 Events, 5 Wells):
</a:t>
            </a:r>
            <a:r>
              <a:rPr sz="1250" b="1">
                <a:solidFill>
                  <a:srgbClr val="0A3663"/>
                </a:solidFill>
              </a:rPr>
              <a:t>• SARIMAX (Exogenous T): </a:t>
            </a:r>
            <a:r>
              <a:rPr sz="1250" b="0"/>
              <a:t>LOEO: 63.2% (12/19), 4.8m lead, 0.50 FAR (2 FA) | LOWO: 73.7% (14/19) [Budget Met!]
</a:t>
            </a:r>
            <a:r>
              <a:rPr sz="1250" b="1">
                <a:solidFill>
                  <a:srgbClr val="0A3663"/>
                </a:solidFill>
              </a:rPr>
              <a:t>• OILGUARD-AC (w=0.85): </a:t>
            </a:r>
            <a:r>
              <a:rPr sz="1250" b="0"/>
              <a:t>LOEO: 63.2% (12/19), 5.3m lead, 0.50 FAR (2 FA) | LOWO: 73.7% (14/19) [Budget Met!]
</a:t>
            </a:r>
            <a:r>
              <a:rPr sz="1250" b="1">
                <a:solidFill>
                  <a:srgbClr val="0A3663"/>
                </a:solidFill>
              </a:rPr>
              <a:t>• OILGUARD-AC (w=0.50): </a:t>
            </a:r>
            <a:r>
              <a:rPr sz="1250" b="0"/>
              <a:t>LOEO: 63.2% (12/19), 4.0m lead, 0.50 FAR (2 FA) | LOWO: 63.2% (12/19) [Budget Met!]
</a:t>
            </a:r>
            <a:r>
              <a:rPr sz="1250" b="1">
                <a:solidFill>
                  <a:srgbClr val="0A3663"/>
                </a:solidFill>
              </a:rPr>
              <a:t>• Univariate ARIMA: </a:t>
            </a:r>
            <a:r>
              <a:rPr sz="1250" b="0"/>
              <a:t>LOEO: 57.9% (11/19), 5.2m lead, 0.50 FAR (2 FA) | LOWO: 68.4% (13/19) [Budget Met!]
</a:t>
            </a:r>
            <a:r>
              <a:rPr sz="1250" b="1">
                <a:solidFill>
                  <a:srgbClr val="0A3663"/>
                </a:solidFill>
              </a:rPr>
              <a:t>• OILGUARD-AC (w=0.70): </a:t>
            </a:r>
            <a:r>
              <a:rPr sz="1250" b="0"/>
              <a:t>LOEO: 52.6% (10/19), 4.7m lead, 0.75 FAR (3 FA) | LOWO: 63.2% (12/19) [Budget Met!]
</a:t>
            </a:r>
            <a:r>
              <a:rPr sz="1250" b="1">
                <a:solidFill>
                  <a:srgbClr val="0A3663"/>
                </a:solidFill>
              </a:rPr>
              <a:t>• Naive Persistence: </a:t>
            </a:r>
            <a:r>
              <a:rPr sz="1250" b="0"/>
              <a:t>LOEO: 47.4% (9/19), 2.3m lead, 1.01 FAR (4 FA) [Borderline]
</a:t>
            </a:r>
            <a:r>
              <a:rPr sz="1250" b="1">
                <a:solidFill>
                  <a:srgbClr val="0A3663"/>
                </a:solidFill>
              </a:rPr>
              <a:t>• Local Outlier Factor (LOF): </a:t>
            </a:r>
            <a:r>
              <a:rPr sz="1250" b="0"/>
              <a:t>57.9% Detection (11/19), 4.5m lead | Realized FAR: 1.51 / hr (6 FA) [BUDGET VIOLATED!]
</a:t>
            </a:r>
            <a:r>
              <a:rPr sz="1250" b="1">
                <a:solidFill>
                  <a:srgbClr val="0A3663"/>
                </a:solidFill>
              </a:rPr>
              <a:t>Finding: </a:t>
            </a:r>
            <a:r>
              <a:rPr sz="1250" b="0"/>
              <a:t>Dynamic regression (SARIMAX) ties balanced fusion and respects operational false-alarm constraints.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SCIENTIFIC MECHANISMS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Physical Insights: Thermal Inertia &amp; Cross-Well Density Drift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A3663"/>
                </a:solidFill>
              </a:rPr>
              <a:t>1. Why Dynamic Regression (SARIMAX) Outperforms Heuristic Fusion (w=0.7):
</a:t>
            </a:r>
            <a:r>
              <a:rPr sz="1300" b="1">
                <a:solidFill>
                  <a:srgbClr val="0A3663"/>
                </a:solidFill>
              </a:rPr>
              <a:t>• Downhole Thermal Inertia: </a:t>
            </a:r>
            <a:r>
              <a:rPr sz="1300" b="0"/>
              <a:t>When the DHSV flapper throttles, pressure drops rapidly via acoustic wave propagation (1,000 m/s), whereas temperature changes much more gradually.
</a:t>
            </a:r>
            <a:r>
              <a:rPr sz="1300" b="1">
                <a:solidFill>
                  <a:srgbClr val="0A3663"/>
                </a:solidFill>
              </a:rPr>
              <a:t>• In SARIMAX, </a:t>
            </a:r>
            <a:r>
              <a:rPr sz="1300" b="0"/>
              <a:t>temperature dynamically conditions baseline expectations without diluting the acoustic pressure drop.
</a:t>
            </a:r>
            <a:r>
              <a:rPr sz="1300" b="1">
                <a:solidFill>
                  <a:srgbClr val="0A3663"/>
                </a:solidFill>
              </a:rPr>
              <a:t>• In Post-Hoc Fusion (w=0.7), </a:t>
            </a:r>
            <a:r>
              <a:rPr sz="1300" b="0"/>
              <a:t>a lagging temperature Z-score can algebraically pull down the composite anomaly score S_t, diluting the sharp pressure signal.
</a:t>
            </a:r>
            <a:r>
              <a:rPr sz="1300" b="1">
                <a:solidFill>
                  <a:srgbClr val="0A3663"/>
                </a:solidFill>
              </a:rPr>
              <a:t>2. Why Established Density Models (LOF) Fail in Operations:
</a:t>
            </a:r>
            <a:r>
              <a:rPr sz="1300" b="1">
                <a:solidFill>
                  <a:srgbClr val="0A3663"/>
                </a:solidFill>
              </a:rPr>
              <a:t>• Cross-Well Density Drift: </a:t>
            </a:r>
            <a:r>
              <a:rPr sz="1300" b="0"/>
              <a:t>LOF computes k-NN distance in raw feature space [P, T]. Normal operating pressure varies from 8.9 to 21.0 MPa across the 5 wells.
</a:t>
            </a:r>
            <a:r>
              <a:rPr sz="1300" b="1">
                <a:solidFill>
                  <a:srgbClr val="0A3663"/>
                </a:solidFill>
              </a:rPr>
              <a:t>• Unseen Well Outliers: </a:t>
            </a:r>
            <a:r>
              <a:rPr sz="1300" b="0"/>
              <a:t>Deploying LOF on an unseen well causes normal operation to land in low-density space, triggering 1.51 false alarms/hr (6 false alarms on 3.98 h normal holdout).
</a:t>
            </a:r>
            <a:r>
              <a:rPr sz="1300" b="1">
                <a:solidFill>
                  <a:srgbClr val="0A3663"/>
                </a:solidFill>
              </a:rPr>
              <a:t>• Time Series Advantage: </a:t>
            </a:r>
            <a:r>
              <a:rPr sz="1300" b="0"/>
              <a:t>Forecasting models difference out static level shifts, focusing strictly on dynamic temporal departures.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CONCLUSION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Operational Scope &amp; Qualified Engineering 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A3663"/>
                </a:solidFill>
              </a:rPr>
              <a:t>1. Actionable Operational Window: </a:t>
            </a:r>
            <a:r>
              <a:rPr sz="1400" b="0"/>
              <a:t>An advance warning of 4 to 5 minutes provides control room operators a valuable decision-support window to verify hydraulic telemetry and prepare platform separators before full flapper seating.
</a:t>
            </a:r>
            <a:r>
              <a:rPr sz="1400" b="1">
                <a:solidFill>
                  <a:srgbClr val="0A3663"/>
                </a:solidFill>
              </a:rPr>
              <a:t>2. Nuisance-Alarm Budgeting Works: </a:t>
            </a:r>
            <a:r>
              <a:rPr sz="1400" b="0"/>
              <a:t>Calibrating thresholds under B_FAR &lt;= 1.0 FA/hr guarantees operational reliability on unseen wells (realized FAR = 0.50 / hr for SARIMAX and AC w=0.5).
</a:t>
            </a:r>
            <a:r>
              <a:rPr sz="1400" b="1">
                <a:solidFill>
                  <a:srgbClr val="0A3663"/>
                </a:solidFill>
              </a:rPr>
              <a:t>3. Qualified Engineering Boundaries: </a:t>
            </a:r>
            <a:r>
              <a:rPr sz="1400" b="0"/>
              <a:t>Claims regarding water hammer elimination or percentage surge reduction remain engineering hypotheses. High-pressure acoustic shock travels in seconds; validating automated choke mitigation requires transient multiphase simulation (OLGA) and flow-loop pilot testing.
</a:t>
            </a:r>
            <a:r>
              <a:rPr sz="1400" b="1">
                <a:solidFill>
                  <a:srgbClr val="0A3663"/>
                </a:solidFill>
              </a:rPr>
              <a:t>4. Methodological Summary: </a:t>
            </a:r>
            <a:r>
              <a:rPr sz="1400" b="0"/>
              <a:t>Moving from unconstrained retrospective parameter optimization to leak-free cross-event validation under operational false-alarm constraints provides an honest, defensible benchmark for industrial predictive maintenance.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